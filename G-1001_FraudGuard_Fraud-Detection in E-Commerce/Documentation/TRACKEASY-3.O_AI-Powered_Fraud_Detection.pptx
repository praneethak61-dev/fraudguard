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0979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64012" y="285750"/>
            <a:ext cx="1015975" cy="5250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Kmit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1801230" y="953691"/>
            <a:ext cx="5541541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KESHAV MEMORIAL INSTITUTE OF TECHNOLOGY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295739" y="1287661"/>
            <a:ext cx="4552494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0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AUTONOMOUS INSTITUTION - ACCREDITED BY NAAC WITH 'A' GRADE
Narayanaguda, Hyderabad.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2158585" y="1794867"/>
            <a:ext cx="4826803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Team | G-1001| </a:t>
            </a:r>
            <a:r>
              <a:rPr lang="en-US" sz="1800" b="1" dirty="0" err="1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FraudGuard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895325" y="2234208"/>
            <a:ext cx="135335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Date: 02-06-2026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0100" y="2873573"/>
            <a:ext cx="3471863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212121"/>
                </a:solidFill>
                <a:uFill>
                  <a:solidFill>
                    <a:srgbClr val="212121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</a:rPr>
              <a:t>Team Members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14413" y="3212902"/>
            <a:ext cx="2088713" cy="189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>
              <a:lnSpc>
                <a:spcPct val="128000"/>
              </a:lnSpc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Jiya Rochiramani - 24BD1A668L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014413" y="3441502"/>
            <a:ext cx="2178481" cy="189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>
              <a:lnSpc>
                <a:spcPct val="128000"/>
              </a:lnSpc>
              <a:buSzPct val="100000"/>
              <a:buFont typeface="+mj-lt"/>
              <a:buAutoNum type="arabicPeriod" startAt="2"/>
            </a:pPr>
            <a:r>
              <a:rPr lang="en-US" sz="10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Koppula Praneetha -24BD1A668T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014413" y="3670102"/>
            <a:ext cx="1891543" cy="189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>
              <a:lnSpc>
                <a:spcPct val="128000"/>
              </a:lnSpc>
              <a:buSzPct val="100000"/>
              <a:buFont typeface="+mj-lt"/>
              <a:buAutoNum type="arabicPeriod" startAt="3"/>
            </a:pPr>
            <a:r>
              <a:rPr lang="en-US" sz="10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Nithya Reddy - 24BD1A668G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014413" y="3898702"/>
            <a:ext cx="1851469" cy="3926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>
              <a:lnSpc>
                <a:spcPct val="128000"/>
              </a:lnSpc>
              <a:buSzPct val="100000"/>
              <a:buFont typeface="+mj-lt"/>
              <a:buAutoNum type="arabicPeriod" startAt="4"/>
            </a:pPr>
            <a:r>
              <a:rPr lang="en-US" sz="105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Selvika</a:t>
            </a:r>
            <a:r>
              <a:rPr lang="en-US" sz="10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Alla - 24BD1A669L</a:t>
            </a:r>
          </a:p>
          <a:p>
            <a:pPr marL="127000" indent="-127000">
              <a:lnSpc>
                <a:spcPct val="128000"/>
              </a:lnSpc>
              <a:buSzPct val="100000"/>
              <a:buFont typeface="+mj-lt"/>
              <a:buAutoNum type="arabicPeriod" startAt="4"/>
            </a:pPr>
            <a:r>
              <a:rPr lang="en-US" sz="1050" dirty="0">
                <a:solidFill>
                  <a:srgbClr val="212121"/>
                </a:solidFill>
                <a:latin typeface="Arial" pitchFamily="34" charset="0"/>
                <a:cs typeface="Arial" pitchFamily="34" charset="-120"/>
              </a:rPr>
              <a:t>Priyanka . T – 24BD1A051W</a:t>
            </a:r>
          </a:p>
        </p:txBody>
      </p:sp>
      <p:sp>
        <p:nvSpPr>
          <p:cNvPr id="13" name="Text 10"/>
          <p:cNvSpPr/>
          <p:nvPr/>
        </p:nvSpPr>
        <p:spPr>
          <a:xfrm>
            <a:off x="4872038" y="2873573"/>
            <a:ext cx="3471863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212121"/>
                </a:solidFill>
                <a:uFill>
                  <a:solidFill>
                    <a:srgbClr val="212121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</a:rPr>
              <a:t>Mentors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86350" y="3212902"/>
            <a:ext cx="1263166" cy="189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>
              <a:lnSpc>
                <a:spcPct val="128000"/>
              </a:lnSpc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Padmaja Tangirala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2875" y="142875"/>
            <a:ext cx="380991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Kmit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14375" y="285750"/>
            <a:ext cx="8429625" cy="458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1000125" y="1030486"/>
            <a:ext cx="8143875" cy="4628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44000"/>
              </a:lnSpc>
              <a:buSzPct val="100000"/>
              <a:buFont typeface="+mj-lt"/>
              <a:buAutoNum type="arabicPeriod"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Slide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000125" y="1493379"/>
            <a:ext cx="8143875" cy="4628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44000"/>
              </a:lnSpc>
              <a:buSzPct val="100000"/>
              <a:buFont typeface="+mj-lt"/>
              <a:buAutoNum type="arabicPeriod" startAt="2"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000125" y="1956271"/>
            <a:ext cx="8143875" cy="4628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44000"/>
              </a:lnSpc>
              <a:buSzPct val="100000"/>
              <a:buFont typeface="+mj-lt"/>
              <a:buAutoNum type="arabicPeriod" startAt="3"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00125" y="2419164"/>
            <a:ext cx="8143875" cy="4628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44000"/>
              </a:lnSpc>
              <a:buSzPct val="100000"/>
              <a:buFont typeface="+mj-lt"/>
              <a:buAutoNum type="arabicPeriod" startAt="4"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000125" y="2882057"/>
            <a:ext cx="8143875" cy="4628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44000"/>
              </a:lnSpc>
              <a:buSzPct val="100000"/>
              <a:buFont typeface="+mj-lt"/>
              <a:buAutoNum type="arabicPeriod" startAt="5"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000125" y="3344949"/>
            <a:ext cx="8143875" cy="4628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44000"/>
              </a:lnSpc>
              <a:buSzPct val="100000"/>
              <a:buFont typeface="+mj-lt"/>
              <a:buAutoNum type="arabicPeriod" startAt="6"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Outcome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1000125" y="3807842"/>
            <a:ext cx="8143875" cy="4628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44000"/>
              </a:lnSpc>
              <a:buSzPct val="100000"/>
              <a:buFont typeface="+mj-lt"/>
              <a:buAutoNum type="arabicPeriod" startAt="7"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1000125" y="4270735"/>
            <a:ext cx="8143875" cy="4628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44000"/>
              </a:lnSpc>
              <a:buSzPct val="100000"/>
              <a:buFont typeface="+mj-lt"/>
              <a:buAutoNum type="arabicPeriod" startAt="8"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2875" y="142875"/>
            <a:ext cx="380991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Kmit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14375" y="285750"/>
            <a:ext cx="8429625" cy="458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714375" y="959048"/>
            <a:ext cx="7715250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14375" y="1326952"/>
            <a:ext cx="7715250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e-commerce faces sophisticated fraud patterns that deterministic rules alone cannot stop. Existing systems lack real-time multi-model integration and transparent decision-making.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14375" y="2089882"/>
            <a:ext cx="7715250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14375" y="2457785"/>
            <a:ext cx="7715250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a comprehensive fraud detection pipeline combining deterministic rule engines with deep learning models to enhance security and user trust.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14375" y="3220715"/>
            <a:ext cx="7715250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00125" y="3588618"/>
            <a:ext cx="74295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28000"/>
              </a:lnSpc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real-time velocity and behavioral rules for instant detection.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000125" y="3934365"/>
            <a:ext cx="74295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28000"/>
              </a:lnSpc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LSTM, GNN, and Autoencoder models for multi-dimensional analysis.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000125" y="4280111"/>
            <a:ext cx="74295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28000"/>
              </a:lnSpc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Explainable AI (XAI) for transparent decision-making and admin insights.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2875" y="142875"/>
            <a:ext cx="380991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Kmit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14375" y="285750"/>
            <a:ext cx="8429625" cy="458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714375" y="959048"/>
            <a:ext cx="7715250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Requirements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00125" y="1362670"/>
            <a:ext cx="7429500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44000"/>
              </a:lnSpc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transaction evaluation and risk scoring for every order.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000125" y="1714137"/>
            <a:ext cx="7429500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44000"/>
              </a:lnSpc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action mapping: Allow, Warn, OTP, or Block based on risk.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000125" y="2065604"/>
            <a:ext cx="7429500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44000"/>
              </a:lnSpc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of behavioral biometrics and honeypot traps for bot detection.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000125" y="2417071"/>
            <a:ext cx="7429500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44000"/>
              </a:lnSpc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 (XAI) dashboard for manual review and transparency.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14375" y="2868550"/>
            <a:ext cx="7715250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Non-Functional Requirements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00125" y="3272172"/>
            <a:ext cx="7429500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44000"/>
              </a:lnSpc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Low-latency inference (&lt;200ms) to ensure seamless checkout.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000125" y="3623639"/>
            <a:ext cx="7429500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44000"/>
              </a:lnSpc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accuracy with minimal false positives for legitimate users.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000125" y="3975106"/>
            <a:ext cx="7429500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44000"/>
              </a:lnSpc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architecture capable of handling high-volume e-commerce traffic.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000125" y="4326573"/>
            <a:ext cx="7429500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44000"/>
              </a:lnSpc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data handling and persistence for audit trails.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2875" y="142875"/>
            <a:ext cx="380991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Kmit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14375" y="285750"/>
            <a:ext cx="8429625" cy="458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714375" y="959048"/>
            <a:ext cx="7715250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00125" y="1362670"/>
            <a:ext cx="74295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28000"/>
              </a:lnSpc>
              <a:buSzPct val="100000"/>
              <a:buChar char="•"/>
            </a:pPr>
            <a:r>
              <a:rPr lang="en-US" sz="1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(ReactJS)</a:t>
            </a: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Monitoring dashboard and inference playground for real-time testing.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0125" y="1708417"/>
            <a:ext cx="74295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28000"/>
              </a:lnSpc>
              <a:buSzPct val="100000"/>
              <a:buChar char="•"/>
            </a:pPr>
            <a:r>
              <a:rPr lang="en-US" sz="1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(Express.js)</a:t>
            </a: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Orchestrates order flow, rule evaluation, and model inference calls.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00125" y="2054163"/>
            <a:ext cx="74295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28000"/>
              </a:lnSpc>
              <a:buSzPct val="100000"/>
              <a:buChar char="•"/>
            </a:pPr>
            <a:r>
              <a:rPr lang="en-US" sz="1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Service (Python)</a:t>
            </a: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High-performance engine hosting LSTM, GNN, and Autoencoder models.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14375" y="2614222"/>
            <a:ext cx="7715250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00125" y="3017844"/>
            <a:ext cx="74295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28000"/>
              </a:lnSpc>
              <a:buSzPct val="100000"/>
              <a:buChar char="•"/>
            </a:pPr>
            <a:r>
              <a:rPr lang="en-US" sz="1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</a:t>
            </a: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JavaScript (ES6+), Python 3.11.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00125" y="3363590"/>
            <a:ext cx="74295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28000"/>
              </a:lnSpc>
              <a:buSzPct val="100000"/>
              <a:buChar char="•"/>
            </a:pPr>
            <a:r>
              <a:rPr lang="en-US" sz="1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</a:t>
            </a: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Express.js, React + Vite, TensorFlow, Keras.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00125" y="3709336"/>
            <a:ext cx="74295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28000"/>
              </a:lnSpc>
              <a:buSzPct val="100000"/>
              <a:buChar char="•"/>
            </a:pPr>
            <a:r>
              <a:rPr lang="en-US" sz="1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Libraries</a:t>
            </a: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Scikit-learn, SHAP (for XAI), D3.js (for visualizations).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00125" y="4055083"/>
            <a:ext cx="74295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28000"/>
              </a:lnSpc>
              <a:buSzPct val="100000"/>
              <a:buChar char="•"/>
            </a:pPr>
            <a:r>
              <a:rPr lang="en-US" sz="1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Databases</a:t>
            </a: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MongoDB for persistence, Redis for high-speed caching.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2875" y="142875"/>
            <a:ext cx="380991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Kmit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14375" y="285750"/>
            <a:ext cx="8429625" cy="458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2850" dirty="0"/>
          </a:p>
        </p:txBody>
      </p:sp>
      <p:sp>
        <p:nvSpPr>
          <p:cNvPr id="5" name="Shape 2"/>
          <p:cNvSpPr/>
          <p:nvPr/>
        </p:nvSpPr>
        <p:spPr>
          <a:xfrm>
            <a:off x="571500" y="887611"/>
            <a:ext cx="8001000" cy="3714750"/>
          </a:xfrm>
          <a:prstGeom prst="rect">
            <a:avLst/>
          </a:prstGeom>
          <a:solidFill>
            <a:srgbClr val="0D1117"/>
          </a:solidFill>
          <a:ln w="18288">
            <a:solidFill>
              <a:srgbClr val="30363D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406" y="1423392"/>
            <a:ext cx="257175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4406" y="1723430"/>
            <a:ext cx="1214438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Browser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964406" y="1921669"/>
            <a:ext cx="121443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(dashboards)</a:t>
            </a:r>
            <a:endParaRPr lang="en-US" sz="750" dirty="0"/>
          </a:p>
        </p:txBody>
      </p:sp>
      <p:sp>
        <p:nvSpPr>
          <p:cNvPr id="9" name="Shape 5"/>
          <p:cNvSpPr/>
          <p:nvPr/>
        </p:nvSpPr>
        <p:spPr>
          <a:xfrm>
            <a:off x="3071813" y="1173361"/>
            <a:ext cx="2286000" cy="542925"/>
          </a:xfrm>
          <a:prstGeom prst="rect">
            <a:avLst/>
          </a:prstGeom>
          <a:solidFill>
            <a:srgbClr val="161B22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178969" y="1280517"/>
            <a:ext cx="2071688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trackeasy :5000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178969" y="1478756"/>
            <a:ext cx="2071688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(Express + HTML)</a:t>
            </a:r>
            <a:endParaRPr lang="en-US" sz="750" dirty="0"/>
          </a:p>
        </p:txBody>
      </p:sp>
      <p:sp>
        <p:nvSpPr>
          <p:cNvPr id="12" name="Shape 8"/>
          <p:cNvSpPr/>
          <p:nvPr/>
        </p:nvSpPr>
        <p:spPr>
          <a:xfrm>
            <a:off x="3071813" y="2459236"/>
            <a:ext cx="2286000" cy="542925"/>
          </a:xfrm>
          <a:prstGeom prst="rect">
            <a:avLst/>
          </a:prstGeom>
          <a:solidFill>
            <a:srgbClr val="161B22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178969" y="2566392"/>
            <a:ext cx="2071688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fraud-service :5002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178969" y="2764631"/>
            <a:ext cx="2071688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(rules + orchestration)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3071813" y="3745111"/>
            <a:ext cx="2286000" cy="542925"/>
          </a:xfrm>
          <a:prstGeom prst="rect">
            <a:avLst/>
          </a:prstGeom>
          <a:solidFill>
            <a:srgbClr val="161B22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178969" y="3852267"/>
            <a:ext cx="2071688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ml-service :8000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178969" y="4050506"/>
            <a:ext cx="2071688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(FastAPI + TensorFlow)</a:t>
            </a:r>
            <a:endParaRPr lang="en-US" sz="750" dirty="0"/>
          </a:p>
        </p:txBody>
      </p:sp>
      <p:sp>
        <p:nvSpPr>
          <p:cNvPr id="18" name="Shape 14"/>
          <p:cNvSpPr/>
          <p:nvPr/>
        </p:nvSpPr>
        <p:spPr>
          <a:xfrm>
            <a:off x="6858000" y="3821906"/>
            <a:ext cx="1285875" cy="566142"/>
          </a:xfrm>
          <a:prstGeom prst="rect">
            <a:avLst/>
          </a:prstGeom>
          <a:solidFill>
            <a:srgbClr val="161B22"/>
          </a:solidFill>
          <a:ln w="9144">
            <a:solidFill>
              <a:srgbClr val="30363D"/>
            </a:solidFill>
            <a:prstDash val="dash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0931" y="3948708"/>
            <a:ext cx="100013" cy="1143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965156" y="4098727"/>
            <a:ext cx="107156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3000375" y="1451967"/>
            <a:ext cx="66080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303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600" dirty="0"/>
          </a:p>
        </p:txBody>
      </p:sp>
      <p:sp>
        <p:nvSpPr>
          <p:cNvPr id="22" name="Text 17"/>
          <p:cNvSpPr/>
          <p:nvPr/>
        </p:nvSpPr>
        <p:spPr>
          <a:xfrm>
            <a:off x="3000375" y="2844998"/>
            <a:ext cx="66080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303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600" dirty="0"/>
          </a:p>
        </p:txBody>
      </p:sp>
      <p:sp>
        <p:nvSpPr>
          <p:cNvPr id="23" name="Text 18"/>
          <p:cNvSpPr/>
          <p:nvPr/>
        </p:nvSpPr>
        <p:spPr>
          <a:xfrm>
            <a:off x="1643063" y="2959298"/>
            <a:ext cx="957542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i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(browser JS reads alerts)</a:t>
            </a:r>
            <a:endParaRPr lang="en-US" sz="600" dirty="0"/>
          </a:p>
        </p:txBody>
      </p:sp>
      <p:sp>
        <p:nvSpPr>
          <p:cNvPr id="24" name="Text 19"/>
          <p:cNvSpPr/>
          <p:nvPr/>
        </p:nvSpPr>
        <p:spPr>
          <a:xfrm rot="5400000">
            <a:off x="4171950" y="2387798"/>
            <a:ext cx="66080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303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600" dirty="0"/>
          </a:p>
        </p:txBody>
      </p:sp>
      <p:sp>
        <p:nvSpPr>
          <p:cNvPr id="25" name="Text 20"/>
          <p:cNvSpPr/>
          <p:nvPr/>
        </p:nvSpPr>
        <p:spPr>
          <a:xfrm>
            <a:off x="4286250" y="2030611"/>
            <a:ext cx="96047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server→fraud calls</a:t>
            </a:r>
            <a:endParaRPr lang="en-US" sz="750" dirty="0"/>
          </a:p>
        </p:txBody>
      </p:sp>
      <p:sp>
        <p:nvSpPr>
          <p:cNvPr id="26" name="Text 21"/>
          <p:cNvSpPr/>
          <p:nvPr/>
        </p:nvSpPr>
        <p:spPr>
          <a:xfrm rot="5400000">
            <a:off x="4171950" y="3673673"/>
            <a:ext cx="66080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303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600" dirty="0"/>
          </a:p>
        </p:txBody>
      </p:sp>
      <p:sp>
        <p:nvSpPr>
          <p:cNvPr id="27" name="Text 22"/>
          <p:cNvSpPr/>
          <p:nvPr/>
        </p:nvSpPr>
        <p:spPr>
          <a:xfrm rot="5400000">
            <a:off x="6172200" y="3786188"/>
            <a:ext cx="66080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303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600" dirty="0"/>
          </a:p>
        </p:txBody>
      </p:sp>
      <p:sp>
        <p:nvSpPr>
          <p:cNvPr id="28" name="Text 23"/>
          <p:cNvSpPr/>
          <p:nvPr/>
        </p:nvSpPr>
        <p:spPr>
          <a:xfrm>
            <a:off x="5500688" y="1351955"/>
            <a:ext cx="495542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Mongo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2875" y="142875"/>
            <a:ext cx="380991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Kmit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14375" y="285750"/>
            <a:ext cx="8429625" cy="458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DIAGRAM</a:t>
            </a:r>
            <a:endParaRPr lang="en-US" sz="2850" dirty="0"/>
          </a:p>
        </p:txBody>
      </p:sp>
      <p:sp>
        <p:nvSpPr>
          <p:cNvPr id="5" name="Shape 2"/>
          <p:cNvSpPr/>
          <p:nvPr/>
        </p:nvSpPr>
        <p:spPr>
          <a:xfrm>
            <a:off x="1000125" y="887611"/>
            <a:ext cx="7143750" cy="493616"/>
          </a:xfrm>
          <a:prstGeom prst="rect">
            <a:avLst/>
          </a:prstGeom>
          <a:solidFill>
            <a:srgbClr val="F8F9FA"/>
          </a:solidFill>
          <a:ln w="18288">
            <a:solidFill>
              <a:srgbClr val="004D40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962620"/>
            <a:ext cx="112514" cy="1285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55514" y="960834"/>
            <a:ext cx="12930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ACTION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43000" y="1141214"/>
            <a:ext cx="3873001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Clicks "Make Payment" → Sends Order Payload (items, amount, biometrics, honeypot).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4224244" y="1459809"/>
            <a:ext cx="695511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/api/orders</a:t>
            </a:r>
            <a:endParaRPr lang="en-US" sz="600" dirty="0"/>
          </a:p>
        </p:txBody>
      </p:sp>
      <p:sp>
        <p:nvSpPr>
          <p:cNvPr id="10" name="Shape 6"/>
          <p:cNvSpPr/>
          <p:nvPr/>
        </p:nvSpPr>
        <p:spPr>
          <a:xfrm>
            <a:off x="4564856" y="1572323"/>
            <a:ext cx="14288" cy="107156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1" name="Text 7"/>
          <p:cNvSpPr/>
          <p:nvPr/>
        </p:nvSpPr>
        <p:spPr>
          <a:xfrm>
            <a:off x="4529138" y="1656262"/>
            <a:ext cx="70712" cy="803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500" dirty="0"/>
          </a:p>
        </p:txBody>
      </p:sp>
      <p:sp>
        <p:nvSpPr>
          <p:cNvPr id="12" name="Shape 8"/>
          <p:cNvSpPr/>
          <p:nvPr/>
        </p:nvSpPr>
        <p:spPr>
          <a:xfrm>
            <a:off x="1000125" y="1679479"/>
            <a:ext cx="7143750" cy="633617"/>
          </a:xfrm>
          <a:prstGeom prst="rect">
            <a:avLst/>
          </a:prstGeom>
          <a:solidFill>
            <a:srgbClr val="F8F9FA"/>
          </a:solidFill>
          <a:ln w="18288">
            <a:solidFill>
              <a:srgbClr val="004D40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754488"/>
            <a:ext cx="128588" cy="1285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71588" y="1752702"/>
            <a:ext cx="118399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(Express)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1143000" y="1945584"/>
            <a:ext cx="1280406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A: Velocity Precheck</a:t>
            </a:r>
            <a:endParaRPr lang="en-US" sz="700" dirty="0"/>
          </a:p>
        </p:txBody>
      </p:sp>
      <p:sp>
        <p:nvSpPr>
          <p:cNvPr id="16" name="Text 11"/>
          <p:cNvSpPr/>
          <p:nvPr/>
        </p:nvSpPr>
        <p:spPr>
          <a:xfrm>
            <a:off x="1143000" y="2073083"/>
            <a:ext cx="335756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Qty &gt; 2x Avg | Amt &gt; 5x Avg | Fails &gt; 3 → </a:t>
            </a:r>
            <a:r>
              <a:rPr lang="en-US" sz="7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requiresOTP</a:t>
            </a:r>
            <a:endParaRPr lang="en-US" sz="750" dirty="0"/>
          </a:p>
        </p:txBody>
      </p:sp>
      <p:sp>
        <p:nvSpPr>
          <p:cNvPr id="17" name="Text 12"/>
          <p:cNvSpPr/>
          <p:nvPr/>
        </p:nvSpPr>
        <p:spPr>
          <a:xfrm>
            <a:off x="4643438" y="1945584"/>
            <a:ext cx="944705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B: Delegation</a:t>
            </a:r>
            <a:endParaRPr lang="en-US" sz="700" dirty="0"/>
          </a:p>
        </p:txBody>
      </p:sp>
      <p:sp>
        <p:nvSpPr>
          <p:cNvPr id="18" name="Text 13"/>
          <p:cNvSpPr/>
          <p:nvPr/>
        </p:nvSpPr>
        <p:spPr>
          <a:xfrm>
            <a:off x="4643438" y="2073083"/>
            <a:ext cx="335756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Forwards to Fraud Service for deep evaluation.</a:t>
            </a:r>
            <a:endParaRPr lang="en-US" sz="750" dirty="0"/>
          </a:p>
        </p:txBody>
      </p:sp>
      <p:sp>
        <p:nvSpPr>
          <p:cNvPr id="19" name="Text 14"/>
          <p:cNvSpPr/>
          <p:nvPr/>
        </p:nvSpPr>
        <p:spPr>
          <a:xfrm>
            <a:off x="3821711" y="2391677"/>
            <a:ext cx="1500578" cy="9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/api/fraud/evaluate-transaction</a:t>
            </a:r>
            <a:endParaRPr lang="en-US" sz="600" dirty="0"/>
          </a:p>
        </p:txBody>
      </p:sp>
      <p:sp>
        <p:nvSpPr>
          <p:cNvPr id="20" name="Shape 15"/>
          <p:cNvSpPr/>
          <p:nvPr/>
        </p:nvSpPr>
        <p:spPr>
          <a:xfrm>
            <a:off x="4564856" y="2504191"/>
            <a:ext cx="14288" cy="107156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1" name="Text 16"/>
          <p:cNvSpPr/>
          <p:nvPr/>
        </p:nvSpPr>
        <p:spPr>
          <a:xfrm>
            <a:off x="4529138" y="2588130"/>
            <a:ext cx="70712" cy="803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500" dirty="0"/>
          </a:p>
        </p:txBody>
      </p:sp>
      <p:sp>
        <p:nvSpPr>
          <p:cNvPr id="22" name="Shape 17"/>
          <p:cNvSpPr/>
          <p:nvPr/>
        </p:nvSpPr>
        <p:spPr>
          <a:xfrm>
            <a:off x="1000125" y="2611348"/>
            <a:ext cx="7143750" cy="913619"/>
          </a:xfrm>
          <a:prstGeom prst="rect">
            <a:avLst/>
          </a:prstGeom>
          <a:solidFill>
            <a:srgbClr val="E0F2F1"/>
          </a:solidFill>
          <a:ln w="18288">
            <a:solidFill>
              <a:srgbClr val="00695C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2686357"/>
            <a:ext cx="128588" cy="12858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71588" y="2684571"/>
            <a:ext cx="109073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FRAUD-SERVICE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43000" y="2877452"/>
            <a:ext cx="1213545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LAYER (11 Checks)</a:t>
            </a:r>
            <a:endParaRPr lang="en-US" sz="700" dirty="0"/>
          </a:p>
        </p:txBody>
      </p:sp>
      <p:sp>
        <p:nvSpPr>
          <p:cNvPr id="26" name="Text 20"/>
          <p:cNvSpPr/>
          <p:nvPr/>
        </p:nvSpPr>
        <p:spPr>
          <a:xfrm>
            <a:off x="1143000" y="3004951"/>
            <a:ext cx="2190759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R1-R5: Behavior &amp; Geo-speed.
· R10-R11: Duration &amp; Honeypot → </a:t>
            </a:r>
            <a:r>
              <a:rPr lang="en-US" sz="7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</a:t>
            </a:r>
            <a:endParaRPr lang="en-US" sz="750" dirty="0"/>
          </a:p>
        </p:txBody>
      </p:sp>
      <p:sp>
        <p:nvSpPr>
          <p:cNvPr id="27" name="Text 21"/>
          <p:cNvSpPr/>
          <p:nvPr/>
        </p:nvSpPr>
        <p:spPr>
          <a:xfrm>
            <a:off x="3476634" y="2877452"/>
            <a:ext cx="1394706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LAYER &amp; MASTER BRAIN</a:t>
            </a:r>
            <a:endParaRPr lang="en-US" sz="700" dirty="0"/>
          </a:p>
        </p:txBody>
      </p:sp>
      <p:sp>
        <p:nvSpPr>
          <p:cNvPr id="28" name="Text 22"/>
          <p:cNvSpPr/>
          <p:nvPr/>
        </p:nvSpPr>
        <p:spPr>
          <a:xfrm>
            <a:off x="3476634" y="3004951"/>
            <a:ext cx="2190759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LSTM, GNN, Auto, Bio models.
· Ensemble ANN + XAI Explanations.</a:t>
            </a:r>
            <a:endParaRPr lang="en-US" sz="750" dirty="0"/>
          </a:p>
        </p:txBody>
      </p:sp>
      <p:sp>
        <p:nvSpPr>
          <p:cNvPr id="29" name="Text 23"/>
          <p:cNvSpPr/>
          <p:nvPr/>
        </p:nvSpPr>
        <p:spPr>
          <a:xfrm>
            <a:off x="5810269" y="2877452"/>
            <a:ext cx="827949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LOGIC</a:t>
            </a:r>
            <a:endParaRPr lang="en-US" sz="700" dirty="0"/>
          </a:p>
        </p:txBody>
      </p:sp>
      <p:sp>
        <p:nvSpPr>
          <p:cNvPr id="30" name="Text 24"/>
          <p:cNvSpPr/>
          <p:nvPr/>
        </p:nvSpPr>
        <p:spPr>
          <a:xfrm>
            <a:off x="5810269" y="3004951"/>
            <a:ext cx="2190759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Score &gt; 8: Block
· Score &gt; 6: OTP
· Score &gt; 3: Warning</a:t>
            </a:r>
            <a:endParaRPr lang="en-US" sz="750" dirty="0"/>
          </a:p>
        </p:txBody>
      </p:sp>
      <p:sp>
        <p:nvSpPr>
          <p:cNvPr id="31" name="Text 25"/>
          <p:cNvSpPr/>
          <p:nvPr/>
        </p:nvSpPr>
        <p:spPr>
          <a:xfrm>
            <a:off x="3907380" y="3603547"/>
            <a:ext cx="1329212" cy="9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 riskScore, action, explanation }</a:t>
            </a:r>
            <a:endParaRPr lang="en-US" sz="600" dirty="0"/>
          </a:p>
        </p:txBody>
      </p:sp>
      <p:sp>
        <p:nvSpPr>
          <p:cNvPr id="32" name="Shape 26"/>
          <p:cNvSpPr/>
          <p:nvPr/>
        </p:nvSpPr>
        <p:spPr>
          <a:xfrm>
            <a:off x="4564856" y="3716062"/>
            <a:ext cx="14288" cy="107156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3" name="Text 27"/>
          <p:cNvSpPr/>
          <p:nvPr/>
        </p:nvSpPr>
        <p:spPr>
          <a:xfrm>
            <a:off x="4529138" y="3800001"/>
            <a:ext cx="70712" cy="803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500" dirty="0"/>
          </a:p>
        </p:txBody>
      </p:sp>
      <p:sp>
        <p:nvSpPr>
          <p:cNvPr id="34" name="Shape 28"/>
          <p:cNvSpPr/>
          <p:nvPr/>
        </p:nvSpPr>
        <p:spPr>
          <a:xfrm>
            <a:off x="1000125" y="3823218"/>
            <a:ext cx="7143750" cy="633617"/>
          </a:xfrm>
          <a:prstGeom prst="rect">
            <a:avLst/>
          </a:prstGeom>
          <a:solidFill>
            <a:srgbClr val="F8F9FA"/>
          </a:solidFill>
          <a:ln w="18288">
            <a:solidFill>
              <a:srgbClr val="004D40"/>
            </a:solidFill>
            <a:prstDash val="solid"/>
          </a:ln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3898227"/>
            <a:ext cx="128588" cy="12858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271588" y="3896441"/>
            <a:ext cx="13124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RESPONSE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1143000" y="4089322"/>
            <a:ext cx="64452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/ OTP</a:t>
            </a:r>
            <a:endParaRPr lang="en-US" sz="700" dirty="0"/>
          </a:p>
        </p:txBody>
      </p:sp>
      <p:sp>
        <p:nvSpPr>
          <p:cNvPr id="38" name="Text 31"/>
          <p:cNvSpPr/>
          <p:nvPr/>
        </p:nvSpPr>
        <p:spPr>
          <a:xfrm>
            <a:off x="1143000" y="4216822"/>
            <a:ext cx="335756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403 "Transaction paused" | Generate 6-digit OTP.</a:t>
            </a:r>
            <a:endParaRPr lang="en-US" sz="750" dirty="0"/>
          </a:p>
        </p:txBody>
      </p:sp>
      <p:sp>
        <p:nvSpPr>
          <p:cNvPr id="39" name="Text 32"/>
          <p:cNvSpPr/>
          <p:nvPr/>
        </p:nvSpPr>
        <p:spPr>
          <a:xfrm>
            <a:off x="4643438" y="4089322"/>
            <a:ext cx="366619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</a:t>
            </a:r>
            <a:endParaRPr lang="en-US" sz="700" dirty="0"/>
          </a:p>
        </p:txBody>
      </p:sp>
      <p:sp>
        <p:nvSpPr>
          <p:cNvPr id="40" name="Text 33"/>
          <p:cNvSpPr/>
          <p:nvPr/>
        </p:nvSpPr>
        <p:spPr>
          <a:xfrm>
            <a:off x="4643438" y="4216822"/>
            <a:ext cx="335756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Save Order → 201 Success.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2875" y="142875"/>
            <a:ext cx="380991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Kmit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14375" y="285750"/>
            <a:ext cx="8429625" cy="458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714375" y="959048"/>
            <a:ext cx="3714750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Workflow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14375" y="1362670"/>
            <a:ext cx="3714750" cy="25145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Request → Rule Engine evaluation.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714375" y="1721281"/>
            <a:ext cx="3714750" cy="25145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ML Inference (LSTM, GNN, AE).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14375" y="2079892"/>
            <a:ext cx="3714750" cy="25145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Brain ANN ensemble calibration.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14375" y="2438502"/>
            <a:ext cx="3714750" cy="25145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Action: Allow / Warn / OTP / Block.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14375" y="1362670"/>
            <a:ext cx="55001" cy="2514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14375" y="1721281"/>
            <a:ext cx="55001" cy="2514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14375" y="2079892"/>
            <a:ext cx="55001" cy="2514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14375" y="2438502"/>
            <a:ext cx="55001" cy="2514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714875" y="959048"/>
            <a:ext cx="3714750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Implemented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714875" y="1362670"/>
            <a:ext cx="3714750" cy="502909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fraudServer.js</a:t>
            </a:r>
            <a:r>
              <a:rPr lang="en-US" sz="11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Express orchestration and rule logic.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714875" y="1972735"/>
            <a:ext cx="3714750" cy="502909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ml_service.py</a:t>
            </a:r>
            <a:r>
              <a:rPr lang="en-US" sz="11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Flask-based model hosting and inference.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714875" y="2582800"/>
            <a:ext cx="3714750" cy="502909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train_ann.py</a:t>
            </a:r>
            <a:r>
              <a:rPr lang="en-US" sz="11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MLP training for ensemble weighting.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714875" y="3192866"/>
            <a:ext cx="3714750" cy="502909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predict_service.py</a:t>
            </a:r>
            <a:r>
              <a:rPr lang="en-US" sz="11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SHAP-based XAI generation.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714875" y="1362670"/>
            <a:ext cx="55001" cy="2514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714875" y="1972735"/>
            <a:ext cx="55001" cy="2514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714875" y="2582800"/>
            <a:ext cx="55001" cy="2514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714875" y="3192866"/>
            <a:ext cx="55001" cy="2514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714375" y="4231556"/>
            <a:ext cx="7715250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Used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714375" y="4635178"/>
            <a:ext cx="7715250" cy="267891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TensorFlow | Keras | MongoDB | Redis | Docker | Express.js | Flask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2875" y="142875"/>
            <a:ext cx="380991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Kmit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14375" y="285750"/>
            <a:ext cx="8429625" cy="458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OUTCOME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714375" y="959048"/>
            <a:ext cx="7715250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Achievements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00125" y="1326952"/>
            <a:ext cx="742950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Successfully deployed a 5-layer defense pipeline (Rules + LSTM + GNN + AE + ANN).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000125" y="1619845"/>
            <a:ext cx="742950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Explainable AI (XAI) providing SHAP-style explanations for every block.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000125" y="1912739"/>
            <a:ext cx="742950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Achieved high-precision ensemble decisioning via Master Brain ANN calibration.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000125" y="2205633"/>
            <a:ext cx="742950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inference playground for model testing and validation.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14375" y="2619970"/>
            <a:ext cx="7715250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Faced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00125" y="2987873"/>
            <a:ext cx="742950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Balancing inference latency with the complexity of multi-model ensemble calls.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000125" y="3280767"/>
            <a:ext cx="742950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Mitigating synthetic data bias in training sets for real-world accuracy.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14375" y="3695105"/>
            <a:ext cx="7715250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Enhancements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000125" y="4063008"/>
            <a:ext cx="742950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Transitioning to Dynamic GNN for real-time relational fraud detection.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000125" y="4355902"/>
            <a:ext cx="742950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models on production datasets and adaptive feedback loops.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2875" y="142875"/>
            <a:ext cx="380991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Kmit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14375" y="285750"/>
            <a:ext cx="8429625" cy="458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714375" y="959048"/>
            <a:ext cx="7715250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14375" y="1326952"/>
            <a:ext cx="771525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TrackEasy-3.O transforms e-commerce security with a multi-layered AI ensemble. By blending deterministic rules with advanced neural networks and transparent XAI, it provides a precise, accessible, and robust fraud detection framework.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14375" y="2364191"/>
            <a:ext cx="7715250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Learned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0125" y="2732094"/>
            <a:ext cx="74295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28000"/>
              </a:lnSpc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Ensemble methods for high-precision classification.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000125" y="3042121"/>
            <a:ext cx="74295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28000"/>
              </a:lnSpc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Neural Networks (GNN) for relational fraud ring detection.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000125" y="3352149"/>
            <a:ext cx="74295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28000"/>
              </a:lnSpc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 (XAI) implementation for model transparency.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000125" y="3662176"/>
            <a:ext cx="74295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28000"/>
              </a:lnSpc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integration of ML services with Express and React.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14375" y="4150798"/>
            <a:ext cx="7715250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Status: </a:t>
            </a: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web prototype ready.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14375" y="4524059"/>
            <a:ext cx="7715250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Step: </a:t>
            </a: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deployment and dynamic graph updates.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2875" y="142875"/>
            <a:ext cx="380991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Kmit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2743144" y="2177058"/>
            <a:ext cx="3657712" cy="789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49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4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899</Words>
  <Application>Microsoft Office PowerPoint</Application>
  <PresentationFormat>On-screen Show (16:9)</PresentationFormat>
  <Paragraphs>161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Jiya Rochiramani</cp:lastModifiedBy>
  <cp:revision>2</cp:revision>
  <dcterms:created xsi:type="dcterms:W3CDTF">2026-06-01T06:17:18Z</dcterms:created>
  <dcterms:modified xsi:type="dcterms:W3CDTF">2026-06-01T06:23:34Z</dcterms:modified>
</cp:coreProperties>
</file>